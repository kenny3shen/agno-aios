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80" kern="0" dirty="0">
                <a:solidFill>
                  <a:srgbClr val="C5D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T.A.I.S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031175" y="365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spc="160" kern="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OVERVIEW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822960"/>
            <a:ext cx="11185855" cy="9144"/>
          </a:xfrm>
          <a:prstGeom prst="rect">
            <a:avLst/>
          </a:prstGeom>
          <a:solidFill>
            <a:srgbClr val="2A2A28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920240"/>
            <a:ext cx="11185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Trinity AI Security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02920" y="278892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5D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面向安全运营的 AI 工作台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34290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将 Agent 对话、工作流编排、HITL 审批、知识库检索、威胁情报与可观测性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收敛到统一认证的控制面 — 基于 Agno 运行时构建。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" y="603504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· FastAPI · Agno · FastMCP · PostgreSQL + pgvector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T.A.I.S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659575" y="25603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120" kern="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02920" y="621792"/>
            <a:ext cx="11185855" cy="9144"/>
          </a:xfrm>
          <a:prstGeom prst="rect">
            <a:avLst/>
          </a:prstGeom>
          <a:solidFill>
            <a:srgbClr val="2A2A28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6419088"/>
            <a:ext cx="11185855" cy="9144"/>
          </a:xfrm>
          <a:prstGeom prst="rect">
            <a:avLst/>
          </a:prstGeom>
          <a:solidFill>
            <a:srgbClr val="2A2A28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64922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Trinity AI Security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40861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86868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02920" y="15087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D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25880" y="1508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问题与定位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434840" y="15087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为什么需要安全运营 AI 工作台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325880" y="1984248"/>
            <a:ext cx="10362895" cy="7315"/>
          </a:xfrm>
          <a:prstGeom prst="rect">
            <a:avLst/>
          </a:prstGeom>
          <a:solidFill>
            <a:srgbClr val="1D1D1B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2130552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D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25880" y="213055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系统架构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434840" y="21305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浏览器工作台 · API · Agno 运行时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325880" y="2606040"/>
            <a:ext cx="10362895" cy="7315"/>
          </a:xfrm>
          <a:prstGeom prst="rect">
            <a:avLst/>
          </a:prstGeom>
          <a:solidFill>
            <a:srgbClr val="1D1D1B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2752344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D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25880" y="275234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内置能力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434840" y="2752344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· Team · Skills · MCP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1325880" y="3227832"/>
            <a:ext cx="10362895" cy="7315"/>
          </a:xfrm>
          <a:prstGeom prst="rect">
            <a:avLst/>
          </a:prstGeom>
          <a:solidFill>
            <a:srgbClr val="1D1D1B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337413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D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25880" y="3374136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工作流与 HITL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434840" y="3374136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· 审批 · 触发器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325880" y="3849624"/>
            <a:ext cx="10362895" cy="7315"/>
          </a:xfrm>
          <a:prstGeom prst="rect">
            <a:avLst/>
          </a:prstGeom>
          <a:solidFill>
            <a:srgbClr val="1D1D1B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399592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D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25880" y="399592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知识与情报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434840" y="3995928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· CVE · Collect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1325880" y="4471416"/>
            <a:ext cx="10362895" cy="7315"/>
          </a:xfrm>
          <a:prstGeom prst="rect">
            <a:avLst/>
          </a:prstGeom>
          <a:solidFill>
            <a:srgbClr val="1D1D1B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" y="46177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D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325880" y="46177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治理与运维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4434840" y="461772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RBAC · 护栏 · Jobs · 可观测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1325880" y="5093208"/>
            <a:ext cx="10362895" cy="7315"/>
          </a:xfrm>
          <a:prstGeom prst="rect">
            <a:avLst/>
          </a:prstGeom>
          <a:solidFill>
            <a:srgbClr val="1D1D1B"/>
          </a:solidFill>
          <a:ln/>
        </p:spPr>
      </p:sp>
      <p:sp>
        <p:nvSpPr>
          <p:cNvPr id="33" name="Text 31"/>
          <p:cNvSpPr/>
          <p:nvPr/>
        </p:nvSpPr>
        <p:spPr>
          <a:xfrm>
            <a:off x="502920" y="5239512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D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325880" y="523951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技术栈与路线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4434840" y="523951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工具链与交付方式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normAutofit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T.A.I.S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659575" y="25603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120" kern="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·  POSITIONING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02920" y="621792"/>
            <a:ext cx="11185855" cy="9144"/>
          </a:xfrm>
          <a:prstGeom prst="rect">
            <a:avLst/>
          </a:prstGeom>
          <a:solidFill>
            <a:srgbClr val="2A2A28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6419088"/>
            <a:ext cx="11185855" cy="9144"/>
          </a:xfrm>
          <a:prstGeom prst="rect">
            <a:avLst/>
          </a:prstGeom>
          <a:solidFill>
            <a:srgbClr val="2A2A28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64922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Trinity AI Security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40861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86868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安全运营需要可治理的 AI 工作台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02920" y="155448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1A1A18"/>
          </a:solidFill>
          <a:ln w="12700">
            <a:solidFill>
              <a:srgbClr val="2A2A2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1554480"/>
            <a:ext cx="73152" cy="1783080"/>
          </a:xfrm>
          <a:prstGeom prst="rect">
            <a:avLst/>
          </a:prstGeom>
          <a:solidFill>
            <a:srgbClr val="C5DD97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工具碎片化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" y="23774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对话、工作流、情报、审批散落在多套系统，上下文断裂。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72200" y="155448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1A1A18"/>
          </a:solidFill>
          <a:ln w="12700">
            <a:solidFill>
              <a:srgbClr val="2A2A2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554480"/>
            <a:ext cx="73152" cy="1783080"/>
          </a:xfrm>
          <a:prstGeom prst="rect">
            <a:avLst/>
          </a:prstGeom>
          <a:solidFill>
            <a:srgbClr val="C5DD97"/>
          </a:solidFill>
          <a:ln/>
        </p:spPr>
      </p:sp>
      <p:sp>
        <p:nvSpPr>
          <p:cNvPr id="15" name="Text 13"/>
          <p:cNvSpPr/>
          <p:nvPr/>
        </p:nvSpPr>
        <p:spPr>
          <a:xfrm>
            <a:off x="6492240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能力难治理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92240" y="23774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模型与工具调用缺少统一的权限、审计与护栏策略。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" y="352044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1A1A18"/>
          </a:solidFill>
          <a:ln w="12700">
            <a:solidFill>
              <a:srgbClr val="2A2A2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2920" y="3520440"/>
            <a:ext cx="73152" cy="1783080"/>
          </a:xfrm>
          <a:prstGeom prst="rect">
            <a:avLst/>
          </a:prstGeom>
          <a:solidFill>
            <a:srgbClr val="C5DD97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38404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人机协同不足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22960" y="43434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高风险操作需要 HITL，但缺少可恢复、可追踪的审批闭环。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72200" y="352044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1A1A18"/>
          </a:solidFill>
          <a:ln w="12700">
            <a:solidFill>
              <a:srgbClr val="2A2A2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72200" y="3520440"/>
            <a:ext cx="73152" cy="1783080"/>
          </a:xfrm>
          <a:prstGeom prst="rect">
            <a:avLst/>
          </a:prstGeom>
          <a:solidFill>
            <a:srgbClr val="C5DD97"/>
          </a:solidFill>
          <a:ln/>
        </p:spPr>
      </p:sp>
      <p:sp>
        <p:nvSpPr>
          <p:cNvPr id="23" name="Text 21"/>
          <p:cNvSpPr/>
          <p:nvPr/>
        </p:nvSpPr>
        <p:spPr>
          <a:xfrm>
            <a:off x="6492240" y="38404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可观测薄弱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492240" y="43434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/ Trace / 失败原因难以回放，运营与研发协作成本高。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normAutofit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T.A.I.S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659575" y="25603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120" kern="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ARCHITECTURE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02920" y="621792"/>
            <a:ext cx="11185855" cy="9144"/>
          </a:xfrm>
          <a:prstGeom prst="rect">
            <a:avLst/>
          </a:prstGeom>
          <a:solidFill>
            <a:srgbClr val="2A2A28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6419088"/>
            <a:ext cx="11185855" cy="9144"/>
          </a:xfrm>
          <a:prstGeom prst="rect">
            <a:avLst/>
          </a:prstGeom>
          <a:solidFill>
            <a:srgbClr val="2A2A28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64922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Trinity AI Security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40861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82296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三层结构：工作台 · API · Agno 运行时</a:t>
            </a:r>
            <a:endParaRPr lang="en-US" sz="2400" dirty="0"/>
          </a:p>
        </p:txBody>
      </p:sp>
      <p:pic>
        <p:nvPicPr>
          <p:cNvPr id="9" name="Image 0" descr="/home/shenss/python/Agno-AIOS/docs/assets/tais-architectu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7315200" cy="41148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38160" y="141732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1A1A18"/>
          </a:solidFill>
          <a:ln w="12700">
            <a:solidFill>
              <a:srgbClr val="2A2A2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321040" y="15544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D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浏览器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321040" y="18562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 · Ant Design X · JWT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138160" y="242316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1A1A18"/>
          </a:solidFill>
          <a:ln w="12700">
            <a:solidFill>
              <a:srgbClr val="2A2A2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321040" y="2560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D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控制面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321040" y="286207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· RBAC · Alembic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138160" y="342900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1A1A18"/>
          </a:solidFill>
          <a:ln w="12700">
            <a:solidFill>
              <a:srgbClr val="2A2A2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321040" y="3566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D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运行时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8321040" y="386791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Agno Agent / Team / Workflow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138160" y="443484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1A1A18"/>
          </a:solidFill>
          <a:ln w="12700">
            <a:solidFill>
              <a:srgbClr val="2A2A2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321040" y="4572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D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8321040" y="48737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 · pgvector · Jobs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normAutofit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T.A.I.S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659575" y="25603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120" kern="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CAPABILITIES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02920" y="621792"/>
            <a:ext cx="11185855" cy="9144"/>
          </a:xfrm>
          <a:prstGeom prst="rect">
            <a:avLst/>
          </a:prstGeom>
          <a:solidFill>
            <a:srgbClr val="2A2A28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6419088"/>
            <a:ext cx="11185855" cy="9144"/>
          </a:xfrm>
          <a:prstGeom prst="rect">
            <a:avLst/>
          </a:prstGeom>
          <a:solidFill>
            <a:srgbClr val="2A2A28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64922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Trinity AI Security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40861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82296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内置 Agents 与协作模式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02920" y="1417320"/>
            <a:ext cx="2697480" cy="4160520"/>
          </a:xfrm>
          <a:prstGeom prst="roundRect">
            <a:avLst>
              <a:gd name="adj" fmla="val 2712"/>
            </a:avLst>
          </a:prstGeom>
          <a:solidFill>
            <a:srgbClr val="1A1A18"/>
          </a:solidFill>
          <a:ln w="12700">
            <a:solidFill>
              <a:srgbClr val="2A2A2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1417320"/>
            <a:ext cx="2697480" cy="73152"/>
          </a:xfrm>
          <a:prstGeom prst="rect">
            <a:avLst/>
          </a:prstGeom>
          <a:solidFill>
            <a:srgbClr val="C5DD97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6916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security-operations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22402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安全运营助手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85800" y="306324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5D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85800" y="33832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· Skills · HITL · Knowledge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429768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5D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场景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85800" y="461772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告警研判、隔离确认、工作流编排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337560" y="1417320"/>
            <a:ext cx="2697480" cy="4160520"/>
          </a:xfrm>
          <a:prstGeom prst="roundRect">
            <a:avLst>
              <a:gd name="adj" fmla="val 2712"/>
            </a:avLst>
          </a:prstGeom>
          <a:solidFill>
            <a:srgbClr val="1A1A18"/>
          </a:solidFill>
          <a:ln w="12700">
            <a:solidFill>
              <a:srgbClr val="2A2A2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37560" y="1417320"/>
            <a:ext cx="2697480" cy="73152"/>
          </a:xfrm>
          <a:prstGeom prst="rect">
            <a:avLst/>
          </a:prstGeom>
          <a:solidFill>
            <a:srgbClr val="C5DD97"/>
          </a:solidFill>
          <a:ln/>
        </p:spPr>
      </p:sp>
      <p:sp>
        <p:nvSpPr>
          <p:cNvPr id="19" name="Text 17"/>
          <p:cNvSpPr/>
          <p:nvPr/>
        </p:nvSpPr>
        <p:spPr>
          <a:xfrm>
            <a:off x="3520440" y="16916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data-analysis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520440" y="22402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数据分析助手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3520440" y="306324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5D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520440" y="33832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File/CSV · SQL · Calculator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520440" y="429768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5D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场景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520440" y="461772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指标解读、异常定位、可复现计算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172200" y="1417320"/>
            <a:ext cx="2697480" cy="4160520"/>
          </a:xfrm>
          <a:prstGeom prst="roundRect">
            <a:avLst>
              <a:gd name="adj" fmla="val 2712"/>
            </a:avLst>
          </a:prstGeom>
          <a:solidFill>
            <a:srgbClr val="1A1A18"/>
          </a:solidFill>
          <a:ln w="12700">
            <a:solidFill>
              <a:srgbClr val="2A2A2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72200" y="1417320"/>
            <a:ext cx="2697480" cy="73152"/>
          </a:xfrm>
          <a:prstGeom prst="rect">
            <a:avLst/>
          </a:prstGeom>
          <a:solidFill>
            <a:srgbClr val="C5DD97"/>
          </a:solidFill>
          <a:ln/>
        </p:spPr>
      </p:sp>
      <p:sp>
        <p:nvSpPr>
          <p:cNvPr id="27" name="Text 25"/>
          <p:cNvSpPr/>
          <p:nvPr/>
        </p:nvSpPr>
        <p:spPr>
          <a:xfrm>
            <a:off x="6355080" y="16916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deep-research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55080" y="22402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深度研究助手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355080" y="306324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5D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355080" y="33832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 · Web Search · Reasoning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355080" y="429768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5D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场景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355080" y="461772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多源检索、交叉验证、研究报告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9006840" y="1417320"/>
            <a:ext cx="2697480" cy="4160520"/>
          </a:xfrm>
          <a:prstGeom prst="roundRect">
            <a:avLst>
              <a:gd name="adj" fmla="val 2712"/>
            </a:avLst>
          </a:prstGeom>
          <a:solidFill>
            <a:srgbClr val="1A1A18"/>
          </a:solidFill>
          <a:ln w="12700">
            <a:solidFill>
              <a:srgbClr val="2A2A2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06840" y="1417320"/>
            <a:ext cx="2697480" cy="73152"/>
          </a:xfrm>
          <a:prstGeom prst="rect">
            <a:avLst/>
          </a:prstGeom>
          <a:solidFill>
            <a:srgbClr val="7EB8DA"/>
          </a:solidFill>
          <a:ln/>
        </p:spPr>
      </p:sp>
      <p:sp>
        <p:nvSpPr>
          <p:cNvPr id="35" name="Text 33"/>
          <p:cNvSpPr/>
          <p:nvPr/>
        </p:nvSpPr>
        <p:spPr>
          <a:xfrm>
            <a:off x="9189720" y="16916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beta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189720" y="22402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研究分析团队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9189720" y="306324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5D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189720" y="33832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coordinate / route / tasks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9189720" y="429768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5D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场景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9189720" y="461772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 Agent 协作与任务板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normAutofit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T.A.I.S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659575" y="25603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120" kern="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·  WORKFLOW &amp; HITL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02920" y="621792"/>
            <a:ext cx="11185855" cy="9144"/>
          </a:xfrm>
          <a:prstGeom prst="rect">
            <a:avLst/>
          </a:prstGeom>
          <a:solidFill>
            <a:srgbClr val="2A2A28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6419088"/>
            <a:ext cx="11185855" cy="9144"/>
          </a:xfrm>
          <a:prstGeom prst="rect">
            <a:avLst/>
          </a:prstGeom>
          <a:solidFill>
            <a:srgbClr val="2A2A28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64922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Trinity AI Security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40861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82296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工作流 Studio 与人机审批闭环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02920" y="1417320"/>
            <a:ext cx="5486400" cy="4343400"/>
          </a:xfrm>
          <a:prstGeom prst="roundRect">
            <a:avLst>
              <a:gd name="adj" fmla="val 1684"/>
            </a:avLst>
          </a:prstGeom>
          <a:solidFill>
            <a:srgbClr val="1A1A18"/>
          </a:solidFill>
          <a:ln w="12700">
            <a:solidFill>
              <a:srgbClr val="2A2A28"/>
            </a:solidFill>
            <a:prstDash val="solid"/>
          </a:ln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365760" cy="3657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325880" y="16916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Studio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868680" y="233172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可视化编排：Step / 条件 / 并行 / 循环 / 路由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DSL 校验、版本发布、草稿与已发布隔离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SSE 流式运行；Esc / 停止 → cancel_run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/ Webhook 触发；审计与通知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步骤可绑定内置 Agent 与 Skills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217920" y="1417320"/>
            <a:ext cx="5486400" cy="4343400"/>
          </a:xfrm>
          <a:prstGeom prst="roundRect">
            <a:avLst>
              <a:gd name="adj" fmla="val 1684"/>
            </a:avLst>
          </a:prstGeom>
          <a:solidFill>
            <a:srgbClr val="1A1A18"/>
          </a:solidFill>
          <a:ln w="12700">
            <a:solidFill>
              <a:srgbClr val="2A2A28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645920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040880" y="16916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HITL 审批中心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6583680" y="233172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工具调用可强制审批（Agno RunRequirement）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暂停 → 管理员解析 → acontinue_run 恢复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拒绝理由写入 resolution_data.note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/ MCP 上传入库审批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飞书 Webhook 通知 + 深链回会话 / Trace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normAutofit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T.A.I.S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659575" y="25603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120" kern="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·  KNOWLEDGE &amp; INTEL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02920" y="621792"/>
            <a:ext cx="11185855" cy="9144"/>
          </a:xfrm>
          <a:prstGeom prst="rect">
            <a:avLst/>
          </a:prstGeom>
          <a:solidFill>
            <a:srgbClr val="2A2A28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6419088"/>
            <a:ext cx="11185855" cy="9144"/>
          </a:xfrm>
          <a:prstGeom prst="rect">
            <a:avLst/>
          </a:prstGeom>
          <a:solidFill>
            <a:srgbClr val="2A2A28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64922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Trinity AI Security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40861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82296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知识库与安全情报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02920" y="1417320"/>
            <a:ext cx="5440680" cy="1965960"/>
          </a:xfrm>
          <a:prstGeom prst="roundRect">
            <a:avLst>
              <a:gd name="adj" fmla="val 3721"/>
            </a:avLst>
          </a:prstGeom>
          <a:solidFill>
            <a:srgbClr val="1A1A18"/>
          </a:solidFill>
          <a:ln w="12700">
            <a:solidFill>
              <a:srgbClr val="2A2A28"/>
            </a:solidFill>
            <a:prstDash val="solid"/>
          </a:ln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83080"/>
            <a:ext cx="384048" cy="38404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371600" y="1828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822960" y="2423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Docling 入库 · hybrid 检索 · Rerank · 相似度阈值 · Settings 可调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172200" y="1417320"/>
            <a:ext cx="5440680" cy="1965960"/>
          </a:xfrm>
          <a:prstGeom prst="roundRect">
            <a:avLst>
              <a:gd name="adj" fmla="val 3721"/>
            </a:avLst>
          </a:prstGeom>
          <a:solidFill>
            <a:srgbClr val="1A1A18"/>
          </a:solidFill>
          <a:ln w="12700">
            <a:solidFill>
              <a:srgbClr val="2A2A28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783080"/>
            <a:ext cx="384048" cy="38404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040880" y="1828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CVE 情报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6492240" y="2423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多源同步 · 标签检索 · 流式更新 · 与 Chat Skill 联动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02920" y="3566160"/>
            <a:ext cx="5440680" cy="1965960"/>
          </a:xfrm>
          <a:prstGeom prst="roundRect">
            <a:avLst>
              <a:gd name="adj" fmla="val 3721"/>
            </a:avLst>
          </a:prstGeom>
          <a:solidFill>
            <a:srgbClr val="1A1A18"/>
          </a:solidFill>
          <a:ln w="12700">
            <a:solidFill>
              <a:srgbClr val="2A2A28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931920"/>
            <a:ext cx="384048" cy="38404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371600" y="39776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 Collect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822960" y="45720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源站规则采集 · 文章入库 · 失败重采 · 与 CVE 交叉引用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6172200" y="3566160"/>
            <a:ext cx="5440680" cy="1965960"/>
          </a:xfrm>
          <a:prstGeom prst="roundRect">
            <a:avLst>
              <a:gd name="adj" fmla="val 3721"/>
            </a:avLst>
          </a:prstGeom>
          <a:solidFill>
            <a:srgbClr val="1A1A18"/>
          </a:solidFill>
          <a:ln w="12700">
            <a:solidFill>
              <a:srgbClr val="2A2A28"/>
            </a:solidFill>
            <a:prstDash val="solid"/>
          </a:ln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3931920"/>
            <a:ext cx="384048" cy="38404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040880" y="39776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 黑名单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6492240" y="45720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FireHOL 等威胁源 · 检索 API · Skill 意图挂载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normAutofit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T.A.I.S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659575" y="25603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120" kern="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·  GOVERNANCE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02920" y="621792"/>
            <a:ext cx="11185855" cy="9144"/>
          </a:xfrm>
          <a:prstGeom prst="rect">
            <a:avLst/>
          </a:prstGeom>
          <a:solidFill>
            <a:srgbClr val="2A2A28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6419088"/>
            <a:ext cx="11185855" cy="9144"/>
          </a:xfrm>
          <a:prstGeom prst="rect">
            <a:avLst/>
          </a:prstGeom>
          <a:solidFill>
            <a:srgbClr val="2A2A28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64922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Trinity AI Security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40861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82296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权限、护栏、Jobs 与可观测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02920" y="1417320"/>
            <a:ext cx="3611880" cy="2057400"/>
          </a:xfrm>
          <a:prstGeom prst="roundRect">
            <a:avLst>
              <a:gd name="adj" fmla="val 3556"/>
            </a:avLst>
          </a:prstGeom>
          <a:solidFill>
            <a:srgbClr val="1A1A18"/>
          </a:solidFill>
          <a:ln w="12700">
            <a:solidFill>
              <a:srgbClr val="2A2A28"/>
            </a:solidFill>
            <a:prstDash val="solid"/>
          </a:ln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91640"/>
            <a:ext cx="329184" cy="32918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34440" y="17373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RBAC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77240" y="2286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/ analyst / author / approver / auditor / guest；JWT scopes 驱动导航与写操作。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297680" y="1417320"/>
            <a:ext cx="3611880" cy="2057400"/>
          </a:xfrm>
          <a:prstGeom prst="roundRect">
            <a:avLst>
              <a:gd name="adj" fmla="val 3556"/>
            </a:avLst>
          </a:prstGeom>
          <a:solidFill>
            <a:srgbClr val="1A1A18"/>
          </a:solidFill>
          <a:ln w="12700">
            <a:solidFill>
              <a:srgbClr val="2A2A28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691640"/>
            <a:ext cx="329184" cy="32918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029200" y="17373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模型护栏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4572000" y="2286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Agno PII + Prompt Injection pre_hooks；Settings 可热更新；不含 OpenAI Moderation。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8092440" y="1417320"/>
            <a:ext cx="3611880" cy="2057400"/>
          </a:xfrm>
          <a:prstGeom prst="roundRect">
            <a:avLst>
              <a:gd name="adj" fmla="val 3556"/>
            </a:avLst>
          </a:prstGeom>
          <a:solidFill>
            <a:srgbClr val="1A1A18"/>
          </a:solidFill>
          <a:ln w="12700">
            <a:solidFill>
              <a:srgbClr val="2A2A28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1691640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823960" y="17373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Durable Jobs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8366760" y="2286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入库、HITL resume、Workflow cron dispatch；SKIP LOCKED 租约与幂等键。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502920" y="3657600"/>
            <a:ext cx="3611880" cy="2057400"/>
          </a:xfrm>
          <a:prstGeom prst="roundRect">
            <a:avLst>
              <a:gd name="adj" fmla="val 3556"/>
            </a:avLst>
          </a:prstGeom>
          <a:solidFill>
            <a:srgbClr val="1A1A18"/>
          </a:solidFill>
          <a:ln w="12700">
            <a:solidFill>
              <a:srgbClr val="2A2A28"/>
            </a:solidFill>
            <a:prstDash val="solid"/>
          </a:ln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931920"/>
            <a:ext cx="329184" cy="32918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234440" y="39776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&amp; Audit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777240" y="452628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Agno 风格 traces / sessions；审计日志；Dashboard 失败与延迟口径。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4297680" y="3657600"/>
            <a:ext cx="3611880" cy="2057400"/>
          </a:xfrm>
          <a:prstGeom prst="roundRect">
            <a:avLst>
              <a:gd name="adj" fmla="val 3556"/>
            </a:avLst>
          </a:prstGeom>
          <a:solidFill>
            <a:srgbClr val="1A1A18"/>
          </a:solidFill>
          <a:ln w="12700">
            <a:solidFill>
              <a:srgbClr val="2A2A28"/>
            </a:solidFill>
            <a:prstDash val="solid"/>
          </a:ln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931920"/>
            <a:ext cx="329184" cy="32918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029200" y="39776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运行参数</a:t>
            </a:r>
            <a:endParaRPr lang="en-US" sz="1600" dirty="0"/>
          </a:p>
        </p:txBody>
      </p:sp>
      <p:sp>
        <p:nvSpPr>
          <p:cNvPr id="28" name="Text 21"/>
          <p:cNvSpPr/>
          <p:nvPr/>
        </p:nvSpPr>
        <p:spPr>
          <a:xfrm>
            <a:off x="4572000" y="452628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num_history_runs、session summaries、tool history cap、agentic memory 等可配置。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092440" y="3657600"/>
            <a:ext cx="3611880" cy="2057400"/>
          </a:xfrm>
          <a:prstGeom prst="roundRect">
            <a:avLst>
              <a:gd name="adj" fmla="val 3556"/>
            </a:avLst>
          </a:prstGeom>
          <a:solidFill>
            <a:srgbClr val="1A1A18"/>
          </a:solidFill>
          <a:ln w="12700">
            <a:solidFill>
              <a:srgbClr val="2A2A28"/>
            </a:solidFill>
            <a:prstDash val="solid"/>
          </a:ln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6760" y="3931920"/>
            <a:ext cx="329184" cy="329184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8823960" y="39776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调度</a:t>
            </a:r>
            <a:endParaRPr lang="en-US" sz="1600" dirty="0"/>
          </a:p>
        </p:txBody>
      </p:sp>
      <p:sp>
        <p:nvSpPr>
          <p:cNvPr id="32" name="Text 24"/>
          <p:cNvSpPr/>
          <p:nvPr/>
        </p:nvSpPr>
        <p:spPr>
          <a:xfrm>
            <a:off x="8366760" y="452628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对齐 SchedulePoller：poll interval、catch-up、表达式校验、scheduled_at 推进。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normAutofit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T.A.I.S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659575" y="25603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120" kern="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·  STACK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02920" y="621792"/>
            <a:ext cx="11185855" cy="9144"/>
          </a:xfrm>
          <a:prstGeom prst="rect">
            <a:avLst/>
          </a:prstGeom>
          <a:solidFill>
            <a:srgbClr val="2A2A28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6419088"/>
            <a:ext cx="11185855" cy="9144"/>
          </a:xfrm>
          <a:prstGeom prst="rect">
            <a:avLst/>
          </a:prstGeom>
          <a:solidFill>
            <a:srgbClr val="2A2A28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64922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Trinity AI Security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40861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82296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技术栈与交付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02920" y="1417320"/>
            <a:ext cx="3611880" cy="4160520"/>
          </a:xfrm>
          <a:prstGeom prst="roundRect">
            <a:avLst>
              <a:gd name="adj" fmla="val 2025"/>
            </a:avLst>
          </a:prstGeom>
          <a:solidFill>
            <a:srgbClr val="1A1A18"/>
          </a:solidFill>
          <a:ln w="12700">
            <a:solidFill>
              <a:srgbClr val="2A2A2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1417320"/>
            <a:ext cx="3611880" cy="640080"/>
          </a:xfrm>
          <a:prstGeom prst="rect">
            <a:avLst/>
          </a:prstGeom>
          <a:solidFill>
            <a:srgbClr val="141412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15544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D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前端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77240" y="2331720"/>
            <a:ext cx="3063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 · TypeScript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 · TanStack Router/Query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 Design · Ant Design X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UnoCSS · Bun · Playwright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297680" y="1417320"/>
            <a:ext cx="3611880" cy="4160520"/>
          </a:xfrm>
          <a:prstGeom prst="roundRect">
            <a:avLst>
              <a:gd name="adj" fmla="val 2025"/>
            </a:avLst>
          </a:prstGeom>
          <a:solidFill>
            <a:srgbClr val="1A1A18"/>
          </a:solidFill>
          <a:ln w="12700">
            <a:solidFill>
              <a:srgbClr val="2A2A2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97680" y="1417320"/>
            <a:ext cx="3611880" cy="640080"/>
          </a:xfrm>
          <a:prstGeom prst="rect">
            <a:avLst/>
          </a:prstGeom>
          <a:solidFill>
            <a:srgbClr val="141412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5544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D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72000" y="2331720"/>
            <a:ext cx="3063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· FastAPI Users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Agno Agent/Team/Workflow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FastMCP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SQLAlchemy Async · Alembic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092440" y="1417320"/>
            <a:ext cx="3611880" cy="4160520"/>
          </a:xfrm>
          <a:prstGeom prst="roundRect">
            <a:avLst>
              <a:gd name="adj" fmla="val 2025"/>
            </a:avLst>
          </a:prstGeom>
          <a:solidFill>
            <a:srgbClr val="1A1A18"/>
          </a:solidFill>
          <a:ln w="12700">
            <a:solidFill>
              <a:srgbClr val="2A2A2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92440" y="1417320"/>
            <a:ext cx="3611880" cy="640080"/>
          </a:xfrm>
          <a:prstGeom prst="rect">
            <a:avLst/>
          </a:prstGeom>
          <a:solidFill>
            <a:srgbClr val="141412"/>
          </a:solidFill>
          <a:ln/>
        </p:spPr>
      </p:sp>
      <p:sp>
        <p:nvSpPr>
          <p:cNvPr id="19" name="Text 17"/>
          <p:cNvSpPr/>
          <p:nvPr/>
        </p:nvSpPr>
        <p:spPr>
          <a:xfrm>
            <a:off x="8366760" y="15544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D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数据与工具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366760" y="2331720"/>
            <a:ext cx="3063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+ pgvector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Durable Jobs Worker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uv · ruff · ty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Docling · 本地 GPU cu124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80" kern="0" dirty="0">
                <a:solidFill>
                  <a:srgbClr val="C5D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T.A.I.S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502920" y="822960"/>
            <a:ext cx="11185855" cy="9144"/>
          </a:xfrm>
          <a:prstGeom prst="rect">
            <a:avLst/>
          </a:prstGeom>
          <a:solidFill>
            <a:srgbClr val="2A2A28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828800"/>
            <a:ext cx="1118585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统一、可治理、可观测的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ECE8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安全运营 AI 工作台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" y="33832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A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对话 · Workflow · HITL · Knowledge · 情报 · Trace — 一套认证与审计边界内闭环交付。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4572000"/>
            <a:ext cx="11185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文档：docs/  ·  计划：TODOs.md  ·  入口：README.md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621792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Trinity AI Security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T.A.I.S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T.A.I.S — Trinity AI Security 项目介绍</dc:title>
  <dc:subject>PptxGenJS Presentation</dc:subject>
  <dc:creator>T.A.I.S</dc:creator>
  <cp:lastModifiedBy>T.A.I.S</cp:lastModifiedBy>
  <cp:revision>1</cp:revision>
  <dcterms:created xsi:type="dcterms:W3CDTF">2026-07-21T12:26:22Z</dcterms:created>
  <dcterms:modified xsi:type="dcterms:W3CDTF">2026-07-21T12:26:22Z</dcterms:modified>
</cp:coreProperties>
</file>